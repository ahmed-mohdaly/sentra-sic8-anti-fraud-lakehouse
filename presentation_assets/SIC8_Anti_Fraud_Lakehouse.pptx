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BM Plex Mono Bold" charset="1" panose="020B0809050203000203"/>
      <p:regular r:id="rId23"/>
    </p:embeddedFont>
    <p:embeddedFont>
      <p:font typeface="Archivo Black" charset="1" panose="020B0A03020202020B04"/>
      <p:regular r:id="rId24"/>
    </p:embeddedFont>
    <p:embeddedFont>
      <p:font typeface="Akzidenz-Grotesk Bold" charset="1" panose="02000803050000020004"/>
      <p:regular r:id="rId25"/>
    </p:embeddedFont>
    <p:embeddedFont>
      <p:font typeface="Akzidenz-Grotesk" charset="1" panose="02000503030000020003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9696450" y="0"/>
            <a:ext cx="209550" cy="10287000"/>
            <a:chOff x="0" y="0"/>
            <a:chExt cx="2794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1019175"/>
            <a:ext cx="78105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7C3AE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ENTERPRISE STREAMING / ANTI-FRAUD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028825"/>
            <a:ext cx="8572500" cy="2897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52"/>
              </a:lnSpc>
            </a:pPr>
            <a:r>
              <a:rPr lang="en-US" sz="8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SIC8</a:t>
            </a:r>
          </a:p>
          <a:p>
            <a:pPr algn="l">
              <a:lnSpc>
                <a:spcPts val="7452"/>
              </a:lnSpc>
            </a:pPr>
            <a:r>
              <a:rPr lang="en-US" sz="8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REAL-TIME</a:t>
            </a:r>
          </a:p>
          <a:p>
            <a:pPr algn="l">
              <a:lnSpc>
                <a:spcPts val="7452"/>
              </a:lnSpc>
            </a:pPr>
            <a:r>
              <a:rPr lang="en-US" sz="8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PAYMENTS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155311"/>
            <a:ext cx="742950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161616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Zero DB inserts. Sub-10ms scoring. One governed lakehouse.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Velocity without contention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platform treats database writes as a scalability tax—and removes them from the payment hot path.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86418"/>
            <a:ext cx="5143500" cy="2190750"/>
            <a:chOff x="0" y="0"/>
            <a:chExt cx="6858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453068"/>
            <a:ext cx="5143500" cy="2190750"/>
            <a:chOff x="0" y="0"/>
            <a:chExt cx="6858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10–100 TPS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BURSTS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134100" y="35484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705600" y="2586418"/>
            <a:ext cx="5143500" cy="2190750"/>
            <a:chOff x="0" y="0"/>
            <a:chExt cx="68580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2250" y="2453068"/>
            <a:ext cx="5143500" cy="2190750"/>
            <a:chOff x="0" y="0"/>
            <a:chExt cx="685800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ZERO DB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INSERTS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791950" y="35484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363450" y="2586418"/>
            <a:ext cx="5143500" cy="2190750"/>
            <a:chOff x="0" y="0"/>
            <a:chExt cx="685800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30100" y="2453068"/>
            <a:ext cx="5143500" cy="2190750"/>
            <a:chOff x="0" y="0"/>
            <a:chExt cx="685800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SUB-10ms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DECISION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5177218"/>
            <a:ext cx="16459200" cy="331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6161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INVARIANTS  •  replayable events  •  idempotent processing  •  no target leakage  •  zero data loss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Four paths. One governed truth.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7CFB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Streaming, CDC, batch and inference converge without coupling the payment authorization path.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211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3876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1 / PAYMENTS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→ MSK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7211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3876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2 / POSTGRES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→ CDC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7211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3876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3 / REFERENCE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→ PARQUET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7211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3876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4 / FEATURES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→ SCORE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6324600" y="5634418"/>
            <a:ext cx="5905500" cy="1381125"/>
            <a:chOff x="0" y="0"/>
            <a:chExt cx="7874000" cy="18415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874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7874000" cy="1879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91250" y="5501068"/>
            <a:ext cx="5905500" cy="1381125"/>
            <a:chOff x="0" y="0"/>
            <a:chExt cx="7874000" cy="18415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74000" cy="1841500"/>
            </a:xfrm>
            <a:custGeom>
              <a:avLst/>
              <a:gdLst/>
              <a:ahLst/>
              <a:cxnLst/>
              <a:rect r="r" b="b" t="t" l="l"/>
              <a:pathLst>
                <a:path h="1841500" w="7874000">
                  <a:moveTo>
                    <a:pt x="0" y="0"/>
                  </a:moveTo>
                  <a:lnTo>
                    <a:pt x="7874000" y="0"/>
                  </a:lnTo>
                  <a:lnTo>
                    <a:pt x="7874000" y="1841500"/>
                  </a:lnTo>
                  <a:lnTo>
                    <a:pt x="0" y="1841500"/>
                  </a:lnTo>
                  <a:close/>
                </a:path>
              </a:pathLst>
            </a:custGeom>
            <a:solidFill>
              <a:srgbClr val="161616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19050"/>
              <a:ext cx="7874000" cy="1860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35"/>
                </a:lnSpc>
              </a:pPr>
              <a:r>
                <a:rPr lang="en-US" sz="270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S3 + DELTA LAKEHOUSE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Path 1 / Write events, not rows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698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transaction service publishes directly to managed Kafka. Partitioning unlocks horizontal scale; consumers remain independently deployable.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900743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767393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PAYMENT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SERVICE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862768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900743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767393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AMAZON MSK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PARTITIONS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862768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900743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767393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CONSUMERS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862768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900743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767393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BRONZE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LANDING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Path 2 / Read the WAL once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Debezium captures customer and account mutations from PostgreSQL logs—no application double-write, no polling loop.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673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4340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POSTGRESQL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WAL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5673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4340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DEBEZIUM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CONNECTOR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5673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4340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CDC TOPIC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KEYED EVENTS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5673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4340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SCD2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CUSTOMER DIM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Path 3 / Batch, made deterministic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Daily reference snapshots are extracted, validated and encoded as columnar Parquet for fast joins and reproducible backfills.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673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4340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DIMENSION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TABLES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5673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4340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DAILY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EXTRACT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5673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4340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QUALITY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GATES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5293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5673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4340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PARQUET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SNAPSHOT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Bronze is an immutable contract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7CFB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Partitioning balances write throughput, replay precision and downstream scan efficiency.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5673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4340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SOURCE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payments | cdc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52939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5673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4340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DATE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yyyy / mm / dd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52939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5673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4340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HOUR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hh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52939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5673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4340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OBJECT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compressed files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5215318"/>
            <a:ext cx="164592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F7F0DF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RAW  ≠  MESSY     •     append-only     •     schema stamped     •     lineage preserved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Decision before authorization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lean LightGBM v2 inference path evaluates each payment against hydrated behavioral state in under ten milliseconds.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911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578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EVENT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DESERIALIZE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911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578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34 FEATURES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ASSEMBLE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911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578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LIGHTGBM v2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INFER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911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578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ALLOW / HOLD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DECIDE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5810250" y="5253418"/>
            <a:ext cx="6667500" cy="138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0"/>
              </a:lnSpc>
            </a:pPr>
            <a:r>
              <a:rPr lang="en-US" sz="8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&lt; 10 ms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34 features. One definition.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The zero-leakage contract makes offline training and online scoring mathematically identical.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911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578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EVENT-TIME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WINDOWS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911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578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CUSTOMER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VELOCITY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911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578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MERCHANT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RISK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911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578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TRAIN = SERVE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PARITY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5291518"/>
            <a:ext cx="16459200" cy="421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16161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same source  +  same clock  +  same defaults  +  same transforms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Fast state, resilient state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Redis is the primary online feature store; a thread-safe local cache absorbs outages without stopping authorization.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9116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5781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UPDATES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9116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5781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REDIS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PRIMARY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9116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5781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IN-MEMORY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FALLBACK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5319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9116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5781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MODEL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CONTEXT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5310568"/>
            <a:ext cx="164592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16161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SUB-MILLISECOND HYDRATION  /  BOUNDED STALENESS  /  ZERO-DOWNTIME FALLBACK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V2 optimizes the cost of being wrong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7CFB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Leakage remediation trades inflated offline confidence for trustworthy production decisions.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828006" y="1314612"/>
            <a:ext cx="11774238" cy="7229914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2763500" y="3338893"/>
            <a:ext cx="4572000" cy="1538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42"/>
              </a:lnSpc>
            </a:pPr>
            <a:r>
              <a:rPr lang="en-US" sz="6150">
                <a:solidFill>
                  <a:srgbClr val="FFE600"/>
                </a:solidFill>
                <a:latin typeface="Archivo Black"/>
                <a:ea typeface="Archivo Black"/>
                <a:cs typeface="Archivo Black"/>
                <a:sym typeface="Archivo Black"/>
              </a:rPr>
              <a:t>NO</a:t>
            </a:r>
          </a:p>
          <a:p>
            <a:pPr algn="l">
              <a:lnSpc>
                <a:spcPts val="5842"/>
              </a:lnSpc>
            </a:pPr>
            <a:r>
              <a:rPr lang="en-US" sz="6150">
                <a:solidFill>
                  <a:srgbClr val="FFE6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LEAKAGE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3500" y="5177218"/>
            <a:ext cx="4095750" cy="1146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F7F0DF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Empirical thresholds tuned to the banking cost curve—not vanity accuracy.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Failure becomes a replayable event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Malformed payloads, poison pills and contract violations are isolated with full context—never silently dropped.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211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3876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VALIDATE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ENVELOPE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7211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3876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EF4444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ROUTE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FAILURE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7211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3876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DLQ + ERROR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CONTEXT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7211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3876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FIX +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REDRIVE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Medallion turns events into evidence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Continuous Delta processing adds quality, identity and business meaning without erasing the source record.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2118"/>
            <a:ext cx="5143500" cy="2190750"/>
            <a:chOff x="0" y="0"/>
            <a:chExt cx="685800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38768"/>
            <a:ext cx="5143500" cy="2190750"/>
            <a:chOff x="0" y="0"/>
            <a:chExt cx="685800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BRONZE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FFFFFF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RAW + REPLAY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6134100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6705600" y="2472118"/>
            <a:ext cx="5143500" cy="2190750"/>
            <a:chOff x="0" y="0"/>
            <a:chExt cx="685800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572250" y="2338768"/>
            <a:ext cx="5143500" cy="2190750"/>
            <a:chOff x="0" y="0"/>
            <a:chExt cx="685800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D7CFB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SILVER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DEDUP + REFUNDS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11791950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2363450" y="2472118"/>
            <a:ext cx="5143500" cy="2190750"/>
            <a:chOff x="0" y="0"/>
            <a:chExt cx="685800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6858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230100" y="2338768"/>
            <a:ext cx="5143500" cy="2190750"/>
            <a:chOff x="0" y="0"/>
            <a:chExt cx="685800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858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685800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GOLD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FRAUD MART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14400" y="5262943"/>
            <a:ext cx="16459200" cy="3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45"/>
              </a:lnSpc>
            </a:pPr>
            <a:r>
              <a:rPr lang="en-US" sz="2175" b="true">
                <a:solidFill>
                  <a:srgbClr val="161616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Delta Lake  •  checkpoints  •  MERGE semantics  •  refund matching  •  SCD Type 2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Orchestration is control, not compute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Airflow coordinates incremental extracts, quality gates and infrastructure tasks while preserving idempotent retries.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211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3876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SCHEDULE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DAG RUN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7211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3876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EXTRACT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INCREMENT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7211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3876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VALIDATE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CONTRACT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34143"/>
            <a:ext cx="361950" cy="0"/>
          </a:xfrm>
          <a:prstGeom prst="line">
            <a:avLst/>
          </a:prstGeom>
          <a:ln cap="rnd" w="76200">
            <a:solidFill>
              <a:srgbClr val="16161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7211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3876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PUBLISH +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OBSERVE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Trust boundaries are explicit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7CFB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Every layer is encrypted, identity-scoped and isolated; secrets never enter source code or runtime images.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72118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38768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IAM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LEAST PRIVILEGE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72118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38768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TLS + KMS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IN TRANSIT / REST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72118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38768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SECRETS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MANAGED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34143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72118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38768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NETWORK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BOUNDARIES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0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172 tests—and the cloud evidence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161616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Contracts, transformations, model behavior and stress limits are verified as a single production acceptance system.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7C3AED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6200" y="1197318"/>
            <a:ext cx="13493099" cy="7464502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13335000" y="2605468"/>
            <a:ext cx="3810000" cy="194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50"/>
              </a:lnSpc>
            </a:pPr>
            <a:r>
              <a:rPr lang="en-US" sz="11250">
                <a:solidFill>
                  <a:srgbClr val="161616"/>
                </a:solidFill>
                <a:latin typeface="Archivo Black"/>
                <a:ea typeface="Archivo Black"/>
                <a:cs typeface="Archivo Black"/>
                <a:sym typeface="Archivo Black"/>
              </a:rPr>
              <a:t>172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335000" y="4548568"/>
            <a:ext cx="38100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5"/>
              </a:lnSpc>
            </a:pPr>
            <a:r>
              <a:rPr lang="en-US" sz="2025" b="true">
                <a:solidFill>
                  <a:srgbClr val="7C3AED"/>
                </a:solidFill>
                <a:latin typeface="IBM Plex Mono Bold"/>
                <a:ea typeface="IBM Plex Mono Bold"/>
                <a:cs typeface="IBM Plex Mono Bold"/>
                <a:sym typeface="IBM Plex Mono Bold"/>
              </a:rPr>
              <a:t>AUTOMATED TESTS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335000" y="5539168"/>
            <a:ext cx="3810000" cy="74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61616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10–100 TPS</a:t>
            </a:r>
          </a:p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61616"/>
                </a:solidFill>
                <a:latin typeface="Akzidenz-Grotesk Bold"/>
                <a:ea typeface="Akzidenz-Grotesk Bold"/>
                <a:cs typeface="Akzidenz-Grotesk Bold"/>
                <a:sym typeface="Akzidenz-Grotesk Bold"/>
              </a:rPr>
              <a:t>cloud stress envelope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Production-ready by design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497711"/>
            <a:ext cx="14287500" cy="364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2"/>
              </a:lnSpc>
            </a:pPr>
            <a:r>
              <a:rPr lang="en-US" sz="2025">
                <a:solidFill>
                  <a:srgbClr val="D7CFBD"/>
                </a:solidFill>
                <a:latin typeface="Akzidenz-Grotesk"/>
                <a:ea typeface="Akzidenz-Grotesk"/>
                <a:cs typeface="Akzidenz-Grotesk"/>
                <a:sym typeface="Akzidenz-Grotesk"/>
              </a:rPr>
              <a:t>A reproducible, observable anti-fraud lakehouse that scales payments without scaling database contention.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621000" y="609600"/>
            <a:ext cx="1752600" cy="209550"/>
            <a:chOff x="0" y="0"/>
            <a:chExt cx="2336800" cy="279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36800" cy="279400"/>
            </a:xfrm>
            <a:custGeom>
              <a:avLst/>
              <a:gdLst/>
              <a:ahLst/>
              <a:cxnLst/>
              <a:rect r="r" b="b" t="t" l="l"/>
              <a:pathLst>
                <a:path h="279400" w="2336800">
                  <a:moveTo>
                    <a:pt x="0" y="0"/>
                  </a:moveTo>
                  <a:lnTo>
                    <a:pt x="2336800" y="0"/>
                  </a:lnTo>
                  <a:lnTo>
                    <a:pt x="2336800" y="279400"/>
                  </a:lnTo>
                  <a:lnTo>
                    <a:pt x="0" y="279400"/>
                  </a:lnTo>
                  <a:close/>
                </a:path>
              </a:pathLst>
            </a:custGeom>
            <a:solidFill>
              <a:srgbClr val="FFE600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336800" cy="317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443543"/>
            <a:ext cx="3729038" cy="2190750"/>
            <a:chOff x="0" y="0"/>
            <a:chExt cx="4972050" cy="2921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14400" y="2310193"/>
            <a:ext cx="3729038" cy="2190750"/>
            <a:chOff x="0" y="0"/>
            <a:chExt cx="4972050" cy="2921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STREAM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WITHOUT LOCKS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>
            <a:off x="4719638" y="3405568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5291138" y="2443543"/>
            <a:ext cx="3729038" cy="2190750"/>
            <a:chOff x="0" y="0"/>
            <a:chExt cx="4972050" cy="2921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157788" y="2310193"/>
            <a:ext cx="3729038" cy="2190750"/>
            <a:chOff x="0" y="0"/>
            <a:chExt cx="4972050" cy="2921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SCORE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BEFORE AUTH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>
            <a:off x="8963025" y="3405568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534525" y="2443543"/>
            <a:ext cx="3729038" cy="2190750"/>
            <a:chOff x="0" y="0"/>
            <a:chExt cx="4972050" cy="2921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401175" y="2310193"/>
            <a:ext cx="3729038" cy="2190750"/>
            <a:chOff x="0" y="0"/>
            <a:chExt cx="4972050" cy="2921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7C3AED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REPLAY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WITHOUT LOSS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3206412" y="3405568"/>
            <a:ext cx="361950" cy="0"/>
          </a:xfrm>
          <a:prstGeom prst="line">
            <a:avLst/>
          </a:prstGeom>
          <a:ln cap="rnd" w="76200">
            <a:solidFill>
              <a:srgbClr val="FFE6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13777912" y="2443543"/>
            <a:ext cx="3729038" cy="2190750"/>
            <a:chOff x="0" y="0"/>
            <a:chExt cx="4972050" cy="2921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161616"/>
            </a:solidFill>
            <a:ln cap="sq">
              <a:noFill/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497205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3644562" y="2310193"/>
            <a:ext cx="3729038" cy="2190750"/>
            <a:chOff x="0" y="0"/>
            <a:chExt cx="4972050" cy="2921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972050" cy="2921000"/>
            </a:xfrm>
            <a:custGeom>
              <a:avLst/>
              <a:gdLst/>
              <a:ahLst/>
              <a:cxnLst/>
              <a:rect r="r" b="b" t="t" l="l"/>
              <a:pathLst>
                <a:path h="2921000" w="4972050">
                  <a:moveTo>
                    <a:pt x="0" y="0"/>
                  </a:moveTo>
                  <a:lnTo>
                    <a:pt x="4972050" y="0"/>
                  </a:lnTo>
                  <a:lnTo>
                    <a:pt x="497205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FE600"/>
            </a:solidFill>
            <a:ln w="47625" cap="sq">
              <a:solidFill>
                <a:srgbClr val="161616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972050" cy="29400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GOVERN</a:t>
              </a:r>
            </a:p>
            <a:p>
              <a:pPr algn="ctr">
                <a:lnSpc>
                  <a:spcPts val="2205"/>
                </a:lnSpc>
              </a:pPr>
              <a:r>
                <a:rPr lang="en-US" sz="2100" b="true">
                  <a:solidFill>
                    <a:srgbClr val="161616"/>
                  </a:solidFill>
                  <a:latin typeface="Akzidenz-Grotesk Bold"/>
                  <a:ea typeface="Akzidenz-Grotesk Bold"/>
                  <a:cs typeface="Akzidenz-Grotesk Bold"/>
                  <a:sym typeface="Akzidenz-Grotesk Bold"/>
                </a:rPr>
                <a:t>END TO END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5367718"/>
            <a:ext cx="16459200" cy="697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70"/>
              </a:lnSpc>
            </a:pPr>
            <a:r>
              <a:rPr lang="en-US" sz="4050">
                <a:solidFill>
                  <a:srgbClr val="F7F0DF"/>
                </a:solidFill>
                <a:latin typeface="Archivo Black"/>
                <a:ea typeface="Archivo Black"/>
                <a:cs typeface="Archivo Black"/>
                <a:sym typeface="Archivo Black"/>
              </a:rPr>
              <a:t>SIC8 / REAL-TIME PAYMENTS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DAHZa7WcWlM</dc:identifier>
  <dcterms:modified xsi:type="dcterms:W3CDTF">2011-08-01T06:04:30Z</dcterms:modified>
  <cp:revision>1</cp:revision>
  <dc:title>SIC8 Anti-Fraud Lakehouse</dc:title>
</cp:coreProperties>
</file>